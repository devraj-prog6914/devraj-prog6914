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22" userDrawn="1">
          <p15:clr>
            <a:srgbClr val="A4A3A4"/>
          </p15:clr>
        </p15:guide>
        <p15:guide id="2" pos="21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9EDC"/>
    <a:srgbClr val="C5A2F3"/>
    <a:srgbClr val="0203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22"/>
        <p:guide pos="21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63116" y="1372664"/>
            <a:ext cx="12725400" cy="17141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0" b="1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0" b="1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0" b="1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0" b="1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7124" y="3033669"/>
            <a:ext cx="8505825" cy="669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0" b="1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055" y="158115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7436" y="202404"/>
              <a:ext cx="1870385" cy="16360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68945" y="202403"/>
              <a:ext cx="4256942" cy="17201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515" y="2775370"/>
              <a:ext cx="11571946" cy="64829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63373" y="0"/>
              <a:ext cx="4084711" cy="411561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840399" y="3819912"/>
            <a:ext cx="830897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600" spc="-10" dirty="0">
                <a:solidFill>
                  <a:srgbClr val="009BFF"/>
                </a:solidFill>
                <a:latin typeface="Arial MT"/>
                <a:cs typeface="Arial MT"/>
              </a:rPr>
              <a:t>HackOrbit</a:t>
            </a:r>
            <a:r>
              <a:rPr sz="9600" spc="-1430" dirty="0">
                <a:solidFill>
                  <a:srgbClr val="009BFF"/>
                </a:solidFill>
                <a:latin typeface="Arial MT"/>
                <a:cs typeface="Arial MT"/>
              </a:rPr>
              <a:t> </a:t>
            </a:r>
            <a:r>
              <a:rPr sz="9600" spc="-20" dirty="0">
                <a:solidFill>
                  <a:srgbClr val="009BFF"/>
                </a:solidFill>
                <a:latin typeface="Arial MT"/>
                <a:cs typeface="Arial MT"/>
              </a:rPr>
              <a:t>2025</a:t>
            </a:r>
            <a:endParaRPr sz="9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2200" y="5981700"/>
            <a:ext cx="5866130" cy="124206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altLang="en-US" sz="5400" b="1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SRM’s Innovators</a:t>
            </a:r>
            <a:endParaRPr lang="en-IN" altLang="en-US" sz="5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0" y="38100"/>
            <a:ext cx="7080885" cy="101155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2400" y="495300"/>
            <a:ext cx="8696325" cy="3011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EEAEF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DriveGuard – Smart Car Health Monitoring &amp; Predictive Maintenance App</a:t>
            </a:r>
            <a:endParaRPr lang="en-US" sz="4800" dirty="0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7717155" y="4457700"/>
            <a:ext cx="8844280" cy="335915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Welcome to DriveGuard, your innovative solution for smart car health monitoring. This presentation outlines our vision for a predictive maintenance application, developed for the Open Innovation National Hackathon 2025.</a:t>
            </a:r>
            <a:endParaRPr lang="en-US" sz="28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57200" y="2019300"/>
            <a:ext cx="9144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800" b="1" dirty="0">
                <a:solidFill>
                  <a:srgbClr val="EEAEF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  <a:sym typeface="+mn-ea"/>
              </a:rPr>
              <a:t>The Problem: Unseen Threats Under the Bonnet</a:t>
            </a:r>
            <a:endParaRPr lang="en-US" sz="4800" b="1" dirty="0">
              <a:solidFill>
                <a:srgbClr val="EEAEF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  <a:sym typeface="+mn-ea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250" y="0"/>
            <a:ext cx="7192010" cy="10275570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762040" y="430736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</p:sp>
      <p:sp>
        <p:nvSpPr>
          <p:cNvPr id="9" name="Text 2"/>
          <p:cNvSpPr/>
          <p:nvPr/>
        </p:nvSpPr>
        <p:spPr>
          <a:xfrm>
            <a:off x="1729026" y="4054038"/>
            <a:ext cx="68193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Arial Rounded MT Bold" panose="020F0704030504030204" charset="0"/>
                <a:ea typeface="Montserrat" pitchFamily="34" charset="-122"/>
                <a:cs typeface="Arial Rounded MT Bold" panose="020F0704030504030204" charset="0"/>
              </a:rPr>
              <a:t>Many drivers overlook subtle warnings. Hidden issues lead to costly, unexpected breakdowns.</a:t>
            </a:r>
            <a:endParaRPr lang="en-US" sz="20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838240" y="53738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  <p:txBody>
          <a:bodyPr/>
          <a:p>
            <a:endParaRPr lang="en-US"/>
          </a:p>
        </p:txBody>
      </p:sp>
      <p:sp>
        <p:nvSpPr>
          <p:cNvPr id="11" name="Text 4"/>
          <p:cNvSpPr/>
          <p:nvPr/>
        </p:nvSpPr>
        <p:spPr>
          <a:xfrm>
            <a:off x="1729026" y="5307171"/>
            <a:ext cx="68193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Arial Rounded MT Bold" panose="020F0704030504030204" charset="0"/>
                <a:ea typeface="Montserrat" pitchFamily="34" charset="-122"/>
                <a:cs typeface="Arial Rounded MT Bold" panose="020F0704030504030204" charset="0"/>
              </a:rPr>
              <a:t>High repair costs often stem from neglect. A lack of real-time information is the main culprit.</a:t>
            </a:r>
            <a:endParaRPr lang="en-US" sz="2000" dirty="0">
              <a:solidFill>
                <a:srgbClr val="E5DCE6"/>
              </a:solidFill>
              <a:latin typeface="Arial Rounded MT Bold" panose="020F0704030504030204" charset="0"/>
              <a:ea typeface="Montserrat" pitchFamily="34" charset="-122"/>
              <a:cs typeface="Arial Rounded MT Bold" panose="020F0704030504030204" charset="0"/>
            </a:endParaRPr>
          </a:p>
        </p:txBody>
      </p:sp>
      <p:sp>
        <p:nvSpPr>
          <p:cNvPr id="12" name="Shape 5"/>
          <p:cNvSpPr/>
          <p:nvPr/>
        </p:nvSpPr>
        <p:spPr>
          <a:xfrm>
            <a:off x="838240" y="651517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  <p:txBody>
          <a:bodyPr/>
          <a:p>
            <a:endParaRPr lang="en-US"/>
          </a:p>
        </p:txBody>
      </p:sp>
      <p:sp>
        <p:nvSpPr>
          <p:cNvPr id="13" name="Text 6"/>
          <p:cNvSpPr/>
          <p:nvPr/>
        </p:nvSpPr>
        <p:spPr>
          <a:xfrm>
            <a:off x="1729026" y="6560304"/>
            <a:ext cx="68193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Arial Rounded MT Bold" panose="020F0704030504030204" charset="0"/>
                <a:ea typeface="Montserrat" pitchFamily="34" charset="-122"/>
                <a:cs typeface="Arial Rounded MT Bold" panose="020F0704030504030204" charset="0"/>
              </a:rPr>
              <a:t>Advanced car diagnostics are exclusive. Only premium or connected cars offer these insights.</a:t>
            </a:r>
            <a:endParaRPr lang="en-US" sz="2000" dirty="0">
              <a:solidFill>
                <a:srgbClr val="E5DCE6"/>
              </a:solidFill>
              <a:latin typeface="Arial Rounded MT Bold" panose="020F0704030504030204" charset="0"/>
              <a:ea typeface="Montserrat" pitchFamily="34" charset="-122"/>
              <a:cs typeface="Arial Rounded MT Bold" panose="020F0704030504030204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838240" y="77600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  <p:txBody>
          <a:bodyPr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1729026" y="7813437"/>
            <a:ext cx="68193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Arial Rounded MT Bold" panose="020F0704030504030204" charset="0"/>
                <a:ea typeface="Montserrat" pitchFamily="34" charset="-122"/>
                <a:cs typeface="Arial Rounded MT Bold" panose="020F0704030504030204" charset="0"/>
              </a:rPr>
              <a:t>There is a clear market gap. An affordable, accessible monitoring system is needed.</a:t>
            </a:r>
            <a:endParaRPr lang="en-US" sz="2000" dirty="0">
              <a:solidFill>
                <a:srgbClr val="E5DCE6"/>
              </a:solidFill>
              <a:latin typeface="Arial Rounded MT Bold" panose="020F0704030504030204" charset="0"/>
              <a:ea typeface="Montserrat" pitchFamily="34" charset="-122"/>
              <a:cs typeface="Arial Rounded MT Bold" panose="020F070403050403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048000" y="342900"/>
            <a:ext cx="78619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48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Theme </a:t>
            </a:r>
            <a:r>
              <a:rPr lang="en-IN" altLang="en-US" sz="4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</a:t>
            </a:r>
            <a:r>
              <a:rPr lang="en-IN" altLang="en-US" sz="4800">
                <a:ln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Open Innovation</a:t>
            </a:r>
            <a:endParaRPr lang="en-IN" altLang="en-US" sz="4800">
              <a:ln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Shape 1"/>
          <p:cNvSpPr/>
          <p:nvPr/>
        </p:nvSpPr>
        <p:spPr>
          <a:xfrm>
            <a:off x="2590800" y="571500"/>
            <a:ext cx="355600" cy="355600"/>
          </a:xfrm>
          <a:prstGeom prst="roundRect">
            <a:avLst>
              <a:gd name="adj" fmla="val 18669"/>
            </a:avLst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28600" y="19050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0432" y="2407587"/>
              <a:ext cx="9767134" cy="5471824"/>
            </a:xfrm>
            <a:prstGeom prst="rect">
              <a:avLst/>
            </a:prstGeom>
          </p:spPr>
        </p:pic>
      </p:grp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90500"/>
            <a:ext cx="7164705" cy="1023556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04800" y="723900"/>
            <a:ext cx="9004300" cy="193992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EEAEF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Our Solution: </a:t>
            </a:r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DriveGuard</a:t>
            </a:r>
            <a:r>
              <a:rPr lang="en-US" sz="4800" b="1" dirty="0">
                <a:solidFill>
                  <a:srgbClr val="EEAEF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 – Your Car's Guardian Angel</a:t>
            </a:r>
            <a:endParaRPr lang="en-US" sz="4800" dirty="0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9" name="Shape 1"/>
          <p:cNvSpPr/>
          <p:nvPr/>
        </p:nvSpPr>
        <p:spPr>
          <a:xfrm>
            <a:off x="491490" y="2698750"/>
            <a:ext cx="4358640" cy="3887470"/>
          </a:xfrm>
          <a:prstGeom prst="roundRect">
            <a:avLst>
              <a:gd name="adj" fmla="val 3060"/>
            </a:avLst>
          </a:prstGeom>
          <a:solidFill>
            <a:srgbClr val="282D5E"/>
          </a:solidFill>
        </p:spPr>
      </p:sp>
      <p:sp>
        <p:nvSpPr>
          <p:cNvPr id="10" name="Text 2"/>
          <p:cNvSpPr/>
          <p:nvPr/>
        </p:nvSpPr>
        <p:spPr>
          <a:xfrm>
            <a:off x="760730" y="3225165"/>
            <a:ext cx="3820160" cy="88392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Real-time Parameter Analysis</a:t>
            </a:r>
            <a:endParaRPr lang="en-US" sz="20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60730" y="3931920"/>
            <a:ext cx="3820160" cy="226568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The app continuously analyses live data. It monitors parameters directly from the vehicle's system.</a:t>
            </a:r>
            <a:endParaRPr lang="en-US" sz="20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395595" y="2634615"/>
            <a:ext cx="4456430" cy="3863340"/>
          </a:xfrm>
          <a:prstGeom prst="roundRect">
            <a:avLst>
              <a:gd name="adj" fmla="val 3060"/>
            </a:avLst>
          </a:prstGeom>
          <a:solidFill>
            <a:srgbClr val="282D5E"/>
          </a:solidFill>
        </p:spPr>
      </p:sp>
      <p:sp>
        <p:nvSpPr>
          <p:cNvPr id="13" name="Text 5"/>
          <p:cNvSpPr/>
          <p:nvPr/>
        </p:nvSpPr>
        <p:spPr>
          <a:xfrm>
            <a:off x="5671820" y="3151505"/>
            <a:ext cx="3903980" cy="8788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IN" altLang="en-US" sz="20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Car</a:t>
            </a:r>
            <a:r>
              <a:rPr lang="en-US" sz="20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 Health Assessment</a:t>
            </a:r>
            <a:endParaRPr lang="en-US" sz="2000" dirty="0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671820" y="3906520"/>
            <a:ext cx="3903980" cy="18008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IN" alt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It</a:t>
            </a:r>
            <a:r>
              <a:rPr 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 evaluate car health. This ensures accurate and timely diagnostics.</a:t>
            </a:r>
            <a:endParaRPr lang="en-US" sz="2000" dirty="0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51510" y="6896100"/>
            <a:ext cx="8953500" cy="2611120"/>
          </a:xfrm>
          <a:prstGeom prst="roundRect">
            <a:avLst>
              <a:gd name="adj" fmla="val 5705"/>
            </a:avLst>
          </a:prstGeom>
          <a:solidFill>
            <a:srgbClr val="282D5E"/>
          </a:solidFill>
        </p:spPr>
      </p:sp>
      <p:sp>
        <p:nvSpPr>
          <p:cNvPr id="16" name="Text 8"/>
          <p:cNvSpPr/>
          <p:nvPr/>
        </p:nvSpPr>
        <p:spPr>
          <a:xfrm>
            <a:off x="1026795" y="7279005"/>
            <a:ext cx="5034280" cy="55372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Predictive Maintenance Alerts</a:t>
            </a:r>
            <a:endParaRPr lang="en-US" sz="20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99160" y="7724775"/>
            <a:ext cx="8415020" cy="113538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Users receive proactive alerts. DriveGuard helps prevent failures before they occur.</a:t>
            </a:r>
            <a:endParaRPr lang="en-US" sz="20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709136" y="557213"/>
            <a:ext cx="11106864" cy="633174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EEAEF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How DriveGuard Works: A Seamless Process</a:t>
            </a:r>
            <a:endParaRPr lang="en-US" sz="3950" b="1" dirty="0">
              <a:solidFill>
                <a:srgbClr val="EEAEF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057479" y="1796812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Connect &amp; Input</a:t>
            </a:r>
            <a:endParaRPr lang="en-US" sz="24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2057479" y="2234843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User logs in. Connects via OBD2 or inputs data.</a:t>
            </a:r>
            <a:endParaRPr lang="en-US" sz="20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41" y="3004979"/>
            <a:ext cx="1013103" cy="1215747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133679" y="3162419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Telemetry Reading</a:t>
            </a:r>
            <a:endParaRPr lang="en-US" sz="24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2133679" y="3600450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App reads fuel pressure, temperature, and voltage.</a:t>
            </a:r>
            <a:endParaRPr lang="en-US" sz="20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41" y="4457581"/>
            <a:ext cx="1013103" cy="121574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209879" y="4617561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ML Model Analysis</a:t>
            </a:r>
            <a:endParaRPr lang="en-US" sz="24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2209879" y="5055592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Data goes through a model. It's trained on failure patterns.</a:t>
            </a:r>
            <a:endParaRPr lang="en-US" sz="20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868908"/>
            <a:ext cx="1013103" cy="121574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133679" y="5891093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Alert Generation</a:t>
            </a:r>
            <a:endParaRPr lang="en-US" sz="24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2133679" y="6329124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Health scores and alerts are generated. Based on thresholds and trends.</a:t>
            </a:r>
            <a:endParaRPr lang="en-US" sz="20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7429460"/>
            <a:ext cx="1013103" cy="1215747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133679" y="7438311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Recommendations</a:t>
            </a:r>
            <a:endParaRPr lang="en-US" sz="24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2133679" y="7876342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User gets service suggestions. Prompt action is encouraged.</a:t>
            </a:r>
            <a:endParaRPr lang="en-US" sz="20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32016" y="2188065"/>
            <a:ext cx="7947425" cy="44523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79450" y="534670"/>
            <a:ext cx="7538085" cy="66230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4750"/>
              </a:lnSpc>
              <a:buNone/>
            </a:pPr>
            <a:r>
              <a:rPr lang="en-US" sz="4000" b="1" dirty="0">
                <a:solidFill>
                  <a:srgbClr val="EEAEF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DriveGuard's Core Features</a:t>
            </a:r>
            <a:endParaRPr lang="en-US" sz="4000" dirty="0"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83" y="1562140"/>
            <a:ext cx="485061" cy="485061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484193" y="1821418"/>
            <a:ext cx="2633662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Car Health Dashboard</a:t>
            </a:r>
            <a:endParaRPr lang="en-US" sz="28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1600398" y="2247860"/>
            <a:ext cx="12544544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Colour-coded scores and clear insights.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3" y="2933581"/>
            <a:ext cx="485061" cy="485061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484193" y="3192859"/>
            <a:ext cx="2425660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Live Sensor Data</a:t>
            </a:r>
            <a:endParaRPr lang="en-US" sz="28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600398" y="3606602"/>
            <a:ext cx="12544544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From OBD2 or convenient manual input.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63" y="4305022"/>
            <a:ext cx="485061" cy="48506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484193" y="4488101"/>
            <a:ext cx="2425660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Predictive Alerts</a:t>
            </a:r>
            <a:endParaRPr lang="en-US" sz="28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1600398" y="4966613"/>
            <a:ext cx="12544544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AI warns of upcoming component failures.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98" y="5753298"/>
            <a:ext cx="485061" cy="48506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494353" y="5817632"/>
            <a:ext cx="2940487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Maintenance Reminders</a:t>
            </a:r>
            <a:endParaRPr lang="en-US" sz="28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676598" y="6266934"/>
            <a:ext cx="12544544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Auto-scheduled based on driving patterns.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283" y="7334925"/>
            <a:ext cx="485061" cy="485061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494353" y="7147798"/>
            <a:ext cx="2425660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E5DCE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Driving Insights</a:t>
            </a:r>
            <a:endParaRPr lang="en-US" sz="2800" b="1" dirty="0">
              <a:solidFill>
                <a:srgbClr val="E5DCE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1676598" y="7567255"/>
            <a:ext cx="12544544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Optional tips to improve vehicle performance.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793790" y="1257300"/>
            <a:ext cx="786574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Key Parameters We Monitor</a:t>
            </a:r>
            <a:endParaRPr lang="en-US" sz="4450" b="1" dirty="0">
              <a:solidFill>
                <a:srgbClr val="EEAEF6"/>
              </a:solidFill>
              <a:latin typeface="Bahnschrift" panose="020B0502040204020203" charset="0"/>
              <a:ea typeface="Bricolage Grotesque Extra Bold" panose="020B0605040402000204" pitchFamily="34" charset="-122"/>
              <a:cs typeface="Bahnschrift" panose="020B0502040204020203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838200" y="3162300"/>
            <a:ext cx="13397865" cy="90106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DriveGuard reads and interprets crucial vehicle data. This can be live or user-inputted.</a:t>
            </a:r>
            <a:endParaRPr lang="en-US" sz="28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1194475" y="4915059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Our system monitors essential parameters. These include vehicle speed and fuel pressure.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1143040" y="7124462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We also track intake air temperature. Battery voltage is closely monitored.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762841" y="4915059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Fuel trim values are analysed for efficiency. More data is gathered via OBD-II capabilities.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659336" y="7124462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These values detect wear and inefficiencies. Early signs of damage are quickly identified.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4914900"/>
            <a:ext cx="403860" cy="389255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</p:sp>
      <p:sp>
        <p:nvSpPr>
          <p:cNvPr id="4" name="Shape 1"/>
          <p:cNvSpPr/>
          <p:nvPr/>
        </p:nvSpPr>
        <p:spPr>
          <a:xfrm>
            <a:off x="533400" y="7124700"/>
            <a:ext cx="403860" cy="389255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</p:sp>
      <p:sp>
        <p:nvSpPr>
          <p:cNvPr id="11" name="Shape 1"/>
          <p:cNvSpPr/>
          <p:nvPr/>
        </p:nvSpPr>
        <p:spPr>
          <a:xfrm>
            <a:off x="8001000" y="4914900"/>
            <a:ext cx="403860" cy="389255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</p:sp>
      <p:sp>
        <p:nvSpPr>
          <p:cNvPr id="12" name="Shape 1"/>
          <p:cNvSpPr/>
          <p:nvPr/>
        </p:nvSpPr>
        <p:spPr>
          <a:xfrm>
            <a:off x="8001000" y="7200900"/>
            <a:ext cx="403860" cy="389255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2016" y="2188065"/>
            <a:ext cx="7947425" cy="4452372"/>
          </a:xfrm>
          <a:prstGeom prst="rect">
            <a:avLst/>
          </a:prstGeom>
        </p:spPr>
      </p:pic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"/>
            <a:ext cx="18166715" cy="45751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34405" y="5129649"/>
            <a:ext cx="784645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ahnschrift" panose="020B0502040204020203" charset="0"/>
                <a:ea typeface="Bricolage Grotesque Extra Bold" panose="020B0605040402000204" pitchFamily="34" charset="-122"/>
                <a:cs typeface="Bahnschrift" panose="020B0502040204020203" charset="0"/>
              </a:rPr>
              <a:t>Why DriveGuard Stands Out</a:t>
            </a:r>
            <a:endParaRPr lang="en-US" sz="4450" dirty="0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8" name="Shape 1"/>
          <p:cNvSpPr/>
          <p:nvPr/>
        </p:nvSpPr>
        <p:spPr>
          <a:xfrm>
            <a:off x="634405" y="61785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</p:sp>
      <p:sp>
        <p:nvSpPr>
          <p:cNvPr id="9" name="Text 2"/>
          <p:cNvSpPr/>
          <p:nvPr/>
        </p:nvSpPr>
        <p:spPr>
          <a:xfrm>
            <a:off x="1371521" y="6252289"/>
            <a:ext cx="56424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Real-time car health prediction is available for any OBD2-equipped car.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8635444" y="61785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</p:sp>
      <p:sp>
        <p:nvSpPr>
          <p:cNvPr id="11" name="Text 4"/>
          <p:cNvSpPr/>
          <p:nvPr/>
        </p:nvSpPr>
        <p:spPr>
          <a:xfrm>
            <a:off x="9372560" y="6252289"/>
            <a:ext cx="56426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AI/ML detects issues before symptoms even appear.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12" name="Shape 5"/>
          <p:cNvSpPr/>
          <p:nvPr/>
        </p:nvSpPr>
        <p:spPr>
          <a:xfrm>
            <a:off x="634405" y="74317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  <p:txBody>
          <a:bodyPr/>
          <a:p>
            <a:endParaRPr lang="en-US"/>
          </a:p>
        </p:txBody>
      </p:sp>
      <p:sp>
        <p:nvSpPr>
          <p:cNvPr id="13" name="Text 6"/>
          <p:cNvSpPr/>
          <p:nvPr/>
        </p:nvSpPr>
        <p:spPr>
          <a:xfrm>
            <a:off x="1371521" y="7505422"/>
            <a:ext cx="564249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It's an affordable solution for non-smart vehicles.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8635444" y="74317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</p:spPr>
      </p:sp>
      <p:sp>
        <p:nvSpPr>
          <p:cNvPr id="15" name="Text 8"/>
          <p:cNvSpPr/>
          <p:nvPr/>
        </p:nvSpPr>
        <p:spPr>
          <a:xfrm>
            <a:off x="9372560" y="7505422"/>
            <a:ext cx="56426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Bahnschrift" panose="020B0502040204020203" charset="0"/>
                <a:ea typeface="Montserrat" pitchFamily="34" charset="-122"/>
                <a:cs typeface="Bahnschrift" panose="020B0502040204020203" charset="0"/>
              </a:rPr>
              <a:t>Users gain data-driven maintenance insights, empowering them.</a:t>
            </a:r>
            <a:endParaRPr lang="en-US" sz="2400" dirty="0">
              <a:solidFill>
                <a:srgbClr val="E5DCE6"/>
              </a:solidFill>
              <a:latin typeface="Bahnschrift" panose="020B0502040204020203" charset="0"/>
              <a:ea typeface="Montserrat" pitchFamily="34" charset="-122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9600" y="800100"/>
            <a:ext cx="9126855" cy="1499870"/>
          </a:xfrm>
          <a:prstGeom prst="rect">
            <a:avLst/>
          </a:prstGeom>
        </p:spPr>
        <p:txBody>
          <a:bodyPr vert="horz" wrap="square" lIns="0" tIns="13970" rIns="0" bIns="0" rtlCol="0">
            <a:noAutofit/>
            <a:scene3d>
              <a:camera prst="orthographicFront"/>
              <a:lightRig rig="threePt" dir="t"/>
            </a:scene3d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altLang="en-US" sz="565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MT"/>
                <a:cs typeface="Arial MT"/>
              </a:rPr>
              <a:t>Our Team and members</a:t>
            </a:r>
            <a:endParaRPr lang="en-IN" altLang="en-US" sz="5650">
              <a:ln>
                <a:solidFill>
                  <a:schemeClr val="bg1">
                    <a:lumMod val="85000"/>
                  </a:schemeClr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MT"/>
              <a:cs typeface="Arial MT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2095500"/>
            <a:ext cx="6334125" cy="1347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4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SRM’s Innovators</a:t>
            </a:r>
            <a:endParaRPr lang="en-IN" altLang="en-US" sz="48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219200" y="491490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4572000" y="5386705"/>
            <a:ext cx="8331200" cy="1387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>
                <a:solidFill>
                  <a:schemeClr val="accent5">
                    <a:lumMod val="60000"/>
                    <a:lumOff val="40000"/>
                  </a:schemeClr>
                </a:solidFill>
              </a:rPr>
              <a:t>Devraj Shinde</a:t>
            </a:r>
            <a:endParaRPr lang="en-IN" altLang="en-US" sz="320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IN" altLang="en-US" sz="3200">
                <a:solidFill>
                  <a:schemeClr val="bg1"/>
                </a:solidFill>
              </a:rPr>
              <a:t>+91 7030435112</a:t>
            </a:r>
            <a:endParaRPr lang="en-IN" altLang="en-US" sz="3200">
              <a:solidFill>
                <a:schemeClr val="bg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572000" y="7048500"/>
            <a:ext cx="6934200" cy="1024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>
                <a:solidFill>
                  <a:schemeClr val="accent5">
                    <a:lumMod val="60000"/>
                    <a:lumOff val="40000"/>
                  </a:schemeClr>
                </a:solidFill>
              </a:rPr>
              <a:t>Vighneshwaran C</a:t>
            </a:r>
            <a:endParaRPr lang="en-IN" altLang="en-US" sz="320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IN" altLang="en-US" sz="3200">
                <a:solidFill>
                  <a:schemeClr val="bg1"/>
                </a:solidFill>
              </a:rPr>
              <a:t>+91 7845864838</a:t>
            </a:r>
            <a:endParaRPr lang="en-IN" altLang="en-US" sz="3200">
              <a:solidFill>
                <a:schemeClr val="bg1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648200" y="3848100"/>
            <a:ext cx="6934200" cy="1024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>
                <a:solidFill>
                  <a:schemeClr val="accent5">
                    <a:lumMod val="60000"/>
                    <a:lumOff val="40000"/>
                  </a:schemeClr>
                </a:solidFill>
              </a:rPr>
              <a:t>R Nethaji</a:t>
            </a:r>
            <a:endParaRPr lang="en-IN" altLang="en-US" sz="320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IN" altLang="en-US" sz="3200">
                <a:solidFill>
                  <a:schemeClr val="bg1"/>
                </a:solidFill>
              </a:rPr>
              <a:t>+91 8778604603</a:t>
            </a:r>
            <a:endParaRPr lang="en-IN" altLang="en-US" sz="3200">
              <a:solidFill>
                <a:schemeClr val="bg1"/>
              </a:solidFill>
            </a:endParaRPr>
          </a:p>
        </p:txBody>
      </p:sp>
      <p:sp>
        <p:nvSpPr>
          <p:cNvPr id="13" name="Shape 1"/>
          <p:cNvSpPr/>
          <p:nvPr/>
        </p:nvSpPr>
        <p:spPr>
          <a:xfrm>
            <a:off x="3657640" y="5372259"/>
            <a:ext cx="510302" cy="510302"/>
          </a:xfrm>
          <a:prstGeom prst="roundRect">
            <a:avLst>
              <a:gd name="adj" fmla="val 18669"/>
            </a:avLst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4" name="Shape 1"/>
          <p:cNvSpPr/>
          <p:nvPr/>
        </p:nvSpPr>
        <p:spPr>
          <a:xfrm>
            <a:off x="3733840" y="3848259"/>
            <a:ext cx="510302" cy="510302"/>
          </a:xfrm>
          <a:prstGeom prst="roundRect">
            <a:avLst>
              <a:gd name="adj" fmla="val 18669"/>
            </a:avLst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15" name="Shape 1"/>
          <p:cNvSpPr/>
          <p:nvPr/>
        </p:nvSpPr>
        <p:spPr>
          <a:xfrm>
            <a:off x="3657640" y="7124859"/>
            <a:ext cx="510302" cy="510302"/>
          </a:xfrm>
          <a:prstGeom prst="roundRect">
            <a:avLst>
              <a:gd name="adj" fmla="val 18669"/>
            </a:avLst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31896" y="2188065"/>
            <a:ext cx="8592430" cy="48137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29334" y="2095774"/>
            <a:ext cx="8505825" cy="66903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78355" marR="5080" indent="-1584325">
              <a:lnSpc>
                <a:spcPct val="115000"/>
              </a:lnSpc>
              <a:spcBef>
                <a:spcPts val="90"/>
              </a:spcBef>
            </a:pPr>
            <a:r>
              <a:rPr spc="-10" dirty="0"/>
              <a:t>Thank </a:t>
            </a:r>
            <a:r>
              <a:rPr spc="-25" dirty="0"/>
              <a:t>you</a:t>
            </a:r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2692</Words>
  <Application>WPS Presentation</Application>
  <PresentationFormat>On-screen Show (4:3)</PresentationFormat>
  <Paragraphs>115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4" baseType="lpstr">
      <vt:lpstr>Arial</vt:lpstr>
      <vt:lpstr>SimSun</vt:lpstr>
      <vt:lpstr>Wingdings</vt:lpstr>
      <vt:lpstr>Cambria</vt:lpstr>
      <vt:lpstr>Arial MT</vt:lpstr>
      <vt:lpstr>Arial</vt:lpstr>
      <vt:lpstr>Bahnschrift</vt:lpstr>
      <vt:lpstr>Bricolage Grotesque Extra Bold</vt:lpstr>
      <vt:lpstr>Arial Rounded MT Bold</vt:lpstr>
      <vt:lpstr>Montserrat</vt:lpstr>
      <vt:lpstr>Bricolage Grotesque Extra Bold</vt:lpstr>
      <vt:lpstr>Segoe Print</vt:lpstr>
      <vt:lpstr>Bricolage Grotesque Extra Bold</vt:lpstr>
      <vt:lpstr>Montserrat</vt:lpstr>
      <vt:lpstr>Montserrat</vt:lpstr>
      <vt:lpstr>Microsoft YaHei</vt:lpstr>
      <vt:lpstr>Arial Unicode MS</vt:lpstr>
      <vt:lpstr>Calibri</vt:lpstr>
      <vt:lpstr>Microsoft JhengHei UI</vt:lpstr>
      <vt:lpstr>MingLiU-ExtB</vt:lpstr>
      <vt:lpstr>Algerian</vt:lpstr>
      <vt:lpstr>Arial Narrow</vt:lpstr>
      <vt:lpstr>Agency FB</vt:lpstr>
      <vt:lpstr>Office Theme</vt:lpstr>
      <vt:lpstr>PowerPoint 演示文稿</vt:lpstr>
      <vt:lpstr>PowerPoint 演示文稿</vt:lpstr>
      <vt:lpstr>PowerPoint 演示文稿</vt:lpstr>
      <vt:lpstr>PowerPoint 演示文稿</vt:lpstr>
      <vt:lpstr>FLOWCHART / DIAGRAM</vt:lpstr>
      <vt:lpstr>FLOWCHART / DIAGRAM</vt:lpstr>
      <vt:lpstr>PowerPoint 演示文稿</vt:lpstr>
      <vt:lpstr>DRAWBACK AND SHOWSTOPPERS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Orbit.pptx</dc:title>
  <dc:creator/>
  <cp:lastModifiedBy>Devraj Shinde</cp:lastModifiedBy>
  <cp:revision>4</cp:revision>
  <dcterms:created xsi:type="dcterms:W3CDTF">2025-06-23T16:27:00Z</dcterms:created>
  <dcterms:modified xsi:type="dcterms:W3CDTF">2025-06-24T07:18:13Z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2025-06-23T11:00:00Z</vt:filetime>
  </property>
  <property fmtid="{D5CDD505-2E9C-101B-9397-08002B2CF9AE}" pid="3" name="Creator">
    <vt:lpwstr>Google</vt:lpwstr>
  </property>
  <property fmtid="{D5CDD505-2E9C-101B-9397-08002B2CF9AE}" pid="4" name="LastSaved">
    <vt:filetime>2025-06-23T11:00:00Z</vt:filetime>
  </property>
  <property fmtid="{D5CDD505-2E9C-101B-9397-08002B2CF9AE}" pid="5" name="ICV">
    <vt:lpwstr>0AC1CEC210304A8F9014A5003D34BF4B_13</vt:lpwstr>
  </property>
  <property fmtid="{D5CDD505-2E9C-101B-9397-08002B2CF9AE}" pid="6" name="KSOProductBuildVer">
    <vt:lpwstr>1033-12.2.0.21546</vt:lpwstr>
  </property>
</Properties>
</file>